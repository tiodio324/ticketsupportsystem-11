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bin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Unbounded" panose="020B0604020202020204" charset="-52"/>
      <p:regular r:id="rId2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28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62" y="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9863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5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2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656761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Система поддержки на основе тикетов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423767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Веб-приложение для автоматизации процесса обработки обращений клиентов с возможностью отслеживания статуса и истории коммуникации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50650" y="1091446"/>
            <a:ext cx="1446252" cy="356711"/>
          </a:xfrm>
          <a:prstGeom prst="roundRect">
            <a:avLst>
              <a:gd name="adj" fmla="val 6386"/>
            </a:avLst>
          </a:prstGeom>
          <a:solidFill>
            <a:srgbClr val="054842"/>
          </a:solidFill>
          <a:ln/>
        </p:spPr>
      </p:sp>
      <p:sp>
        <p:nvSpPr>
          <p:cNvPr id="4" name="Text 1"/>
          <p:cNvSpPr/>
          <p:nvPr/>
        </p:nvSpPr>
        <p:spPr>
          <a:xfrm>
            <a:off x="6264473" y="1148358"/>
            <a:ext cx="121860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ОБЗОР ПРОЕКТА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150650" y="1524000"/>
            <a:ext cx="6169938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Архитектура решения</a:t>
            </a:r>
            <a:endParaRPr lang="en-US" sz="3500" dirty="0"/>
          </a:p>
        </p:txBody>
      </p:sp>
      <p:sp>
        <p:nvSpPr>
          <p:cNvPr id="6" name="Shape 3"/>
          <p:cNvSpPr/>
          <p:nvPr/>
        </p:nvSpPr>
        <p:spPr>
          <a:xfrm>
            <a:off x="6150650" y="2366843"/>
            <a:ext cx="3812858" cy="2746177"/>
          </a:xfrm>
          <a:prstGeom prst="roundRect">
            <a:avLst>
              <a:gd name="adj" fmla="val 1037"/>
            </a:avLst>
          </a:prstGeom>
          <a:solidFill>
            <a:srgbClr val="304755"/>
          </a:solidFill>
          <a:ln/>
        </p:spPr>
      </p:sp>
      <p:sp>
        <p:nvSpPr>
          <p:cNvPr id="7" name="Shape 4"/>
          <p:cNvSpPr/>
          <p:nvPr/>
        </p:nvSpPr>
        <p:spPr>
          <a:xfrm>
            <a:off x="6340435" y="2556629"/>
            <a:ext cx="569357" cy="569357"/>
          </a:xfrm>
          <a:prstGeom prst="roundRect">
            <a:avLst>
              <a:gd name="adj" fmla="val 16058616"/>
            </a:avLst>
          </a:prstGeom>
          <a:solidFill>
            <a:srgbClr val="0A988B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97003" y="2713196"/>
            <a:ext cx="256223" cy="2562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40435" y="3315772"/>
            <a:ext cx="3114675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Single Page Application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6340435" y="3708797"/>
            <a:ext cx="3433286" cy="121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Быстрая навигация без перезагрузки страницы, современный подход к разработке интерфейсов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10153293" y="2366843"/>
            <a:ext cx="3812858" cy="2746177"/>
          </a:xfrm>
          <a:prstGeom prst="roundRect">
            <a:avLst>
              <a:gd name="adj" fmla="val 1037"/>
            </a:avLst>
          </a:prstGeom>
          <a:solidFill>
            <a:srgbClr val="304755"/>
          </a:solidFill>
          <a:ln/>
        </p:spPr>
      </p:sp>
      <p:sp>
        <p:nvSpPr>
          <p:cNvPr id="12" name="Shape 8"/>
          <p:cNvSpPr/>
          <p:nvPr/>
        </p:nvSpPr>
        <p:spPr>
          <a:xfrm>
            <a:off x="10343078" y="2556629"/>
            <a:ext cx="569357" cy="569357"/>
          </a:xfrm>
          <a:prstGeom prst="roundRect">
            <a:avLst>
              <a:gd name="adj" fmla="val 16058616"/>
            </a:avLst>
          </a:prstGeom>
          <a:solidFill>
            <a:srgbClr val="0A988B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99646" y="2713196"/>
            <a:ext cx="256223" cy="25622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343078" y="3315772"/>
            <a:ext cx="2233136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Тикет-система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10343078" y="3708797"/>
            <a:ext cx="3433286" cy="910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Централизованная обработка обращений с отслеживанием статуса каждого запроса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150650" y="5302806"/>
            <a:ext cx="7815501" cy="1835348"/>
          </a:xfrm>
          <a:prstGeom prst="roundRect">
            <a:avLst>
              <a:gd name="adj" fmla="val 1551"/>
            </a:avLst>
          </a:prstGeom>
          <a:solidFill>
            <a:srgbClr val="304755"/>
          </a:solidFill>
          <a:ln/>
        </p:spPr>
      </p:sp>
      <p:sp>
        <p:nvSpPr>
          <p:cNvPr id="17" name="Shape 12"/>
          <p:cNvSpPr/>
          <p:nvPr/>
        </p:nvSpPr>
        <p:spPr>
          <a:xfrm>
            <a:off x="6340435" y="5492591"/>
            <a:ext cx="569357" cy="569357"/>
          </a:xfrm>
          <a:prstGeom prst="roundRect">
            <a:avLst>
              <a:gd name="adj" fmla="val 16058616"/>
            </a:avLst>
          </a:prstGeom>
          <a:solidFill>
            <a:srgbClr val="0A988B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7003" y="5649158"/>
            <a:ext cx="256223" cy="25622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40435" y="6251734"/>
            <a:ext cx="2262664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Ролевая модель</a:t>
            </a:r>
            <a:endParaRPr lang="en-US" sz="1750" dirty="0"/>
          </a:p>
        </p:txBody>
      </p:sp>
      <p:sp>
        <p:nvSpPr>
          <p:cNvPr id="20" name="Text 14"/>
          <p:cNvSpPr/>
          <p:nvPr/>
        </p:nvSpPr>
        <p:spPr>
          <a:xfrm>
            <a:off x="6340435" y="6644759"/>
            <a:ext cx="7435929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Разграничение прав доступа для клиентов, агентов и администраторов</a:t>
            </a:r>
            <a:endParaRPr lang="en-US" sz="1450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3A59A0A-8E0E-4F05-A37F-CCE267EB60D7}"/>
              </a:ext>
            </a:extLst>
          </p:cNvPr>
          <p:cNvSpPr/>
          <p:nvPr/>
        </p:nvSpPr>
        <p:spPr>
          <a:xfrm>
            <a:off x="12773891" y="7780713"/>
            <a:ext cx="1784465" cy="360218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29020" y="737354"/>
            <a:ext cx="2109430" cy="406718"/>
          </a:xfrm>
          <a:prstGeom prst="roundRect">
            <a:avLst>
              <a:gd name="adj" fmla="val 6147"/>
            </a:avLst>
          </a:prstGeom>
          <a:noFill/>
          <a:ln w="7620">
            <a:solidFill>
              <a:srgbClr val="0A988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61536" y="807363"/>
            <a:ext cx="184439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ФУНКЦИОНАЛЬНОСТЬ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9020" y="1227296"/>
            <a:ext cx="7685961" cy="1225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Возможности системы по ролям</a:t>
            </a:r>
            <a:endParaRPr lang="en-US" sz="3850" dirty="0"/>
          </a:p>
        </p:txBody>
      </p:sp>
      <p:sp>
        <p:nvSpPr>
          <p:cNvPr id="6" name="Text 3"/>
          <p:cNvSpPr/>
          <p:nvPr/>
        </p:nvSpPr>
        <p:spPr>
          <a:xfrm>
            <a:off x="729020" y="2973348"/>
            <a:ext cx="2195870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Клиенты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29020" y="3487817"/>
            <a:ext cx="219587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Создание обращений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29020" y="4227433"/>
            <a:ext cx="219587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Просмотр своих тикетов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29020" y="4967049"/>
            <a:ext cx="219587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Фильтрация и поиск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29020" y="5706666"/>
            <a:ext cx="219587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Отслеживание статуса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29020" y="6446282"/>
            <a:ext cx="219587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Переписка с агентами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440668" y="2973348"/>
            <a:ext cx="2195870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Агенты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3440668" y="3487817"/>
            <a:ext cx="2195870" cy="44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Обработка тикетов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440668" y="3978049"/>
            <a:ext cx="219587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Изменение статусов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440668" y="4717665"/>
            <a:ext cx="219587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Ответы клиентам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40668" y="5123907"/>
            <a:ext cx="219587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Внутренние заметки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440668" y="5863523"/>
            <a:ext cx="219587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Управление очередью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52317" y="2973348"/>
            <a:ext cx="2277785" cy="612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Администраторы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152317" y="3794046"/>
            <a:ext cx="227778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Полный контроль тикетов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152317" y="4533662"/>
            <a:ext cx="227778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Управление агентами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152317" y="5273278"/>
            <a:ext cx="227778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Настройка категорий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152317" y="6012894"/>
            <a:ext cx="227778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Переназначение задач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152317" y="6752511"/>
            <a:ext cx="227778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Эскалация обращений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3707" y="630436"/>
            <a:ext cx="1378744" cy="333494"/>
          </a:xfrm>
          <a:prstGeom prst="roundRect">
            <a:avLst>
              <a:gd name="adj" fmla="val 6385"/>
            </a:avLst>
          </a:prstGeom>
          <a:solidFill>
            <a:srgbClr val="05484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40148" y="726162"/>
            <a:ext cx="141923" cy="141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53032" y="683657"/>
            <a:ext cx="952976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ТЕХНОЛОГИИ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033707" y="1034891"/>
            <a:ext cx="9430703" cy="521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Современный технологический стек</a:t>
            </a:r>
            <a:endParaRPr lang="en-US" sz="3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33707" y="1822847"/>
            <a:ext cx="532209" cy="5322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33707" y="2576751"/>
            <a:ext cx="2087523" cy="26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React 19.2.0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2033707" y="2944058"/>
            <a:ext cx="5170527" cy="567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Современная библиотека для создания интерактивных пользовательских интерфейсов с компонентным подходом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5928" y="1822847"/>
            <a:ext cx="532209" cy="5322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25928" y="2576751"/>
            <a:ext cx="2087523" cy="26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TypeScript 5.9.3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7425928" y="2944058"/>
            <a:ext cx="5170646" cy="567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Строгая типизация для повышения надежности кода и улучшения опыта разработки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33707" y="3866555"/>
            <a:ext cx="532209" cy="53220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033707" y="4620458"/>
            <a:ext cx="2087523" cy="26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Vite 7.3.0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2033707" y="4987766"/>
            <a:ext cx="5170527" cy="567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Быстрый инструмент сборки нового поколения с мгновенным горячим обновлением модулей</a:t>
            </a:r>
            <a:endParaRPr lang="en-US" sz="13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25928" y="3866555"/>
            <a:ext cx="532209" cy="53220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425928" y="4620458"/>
            <a:ext cx="2087523" cy="26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MobX 6.15.0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7425928" y="4987766"/>
            <a:ext cx="5170646" cy="567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Простое и масштабируемое управление состоянием приложения с реактивным программированием</a:t>
            </a:r>
            <a:endParaRPr lang="en-US" sz="13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33707" y="5910263"/>
            <a:ext cx="532209" cy="53220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033707" y="6664166"/>
            <a:ext cx="2087523" cy="26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Firebase 12.7.0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2033707" y="7031474"/>
            <a:ext cx="5170527" cy="567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Realtime Database для синхронизации данных в реальном времени между клиентами</a:t>
            </a:r>
            <a:endParaRPr lang="en-US" sz="13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25928" y="5910263"/>
            <a:ext cx="532209" cy="532209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425928" y="6664166"/>
            <a:ext cx="2087523" cy="26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SCSS/SASS 1.97.1</a:t>
            </a:r>
            <a:endParaRPr lang="en-US" sz="1600" dirty="0"/>
          </a:p>
        </p:txBody>
      </p:sp>
      <p:sp>
        <p:nvSpPr>
          <p:cNvPr id="23" name="Text 14"/>
          <p:cNvSpPr/>
          <p:nvPr/>
        </p:nvSpPr>
        <p:spPr>
          <a:xfrm>
            <a:off x="7425928" y="7031474"/>
            <a:ext cx="5170646" cy="567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Мощный CSS-препроцессор для создания модульных и переиспользуемых стилей</a:t>
            </a:r>
            <a:endParaRPr lang="en-US" sz="1350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42D696B-7808-4B72-AFA1-CB20DA70ECCD}"/>
              </a:ext>
            </a:extLst>
          </p:cNvPr>
          <p:cNvSpPr/>
          <p:nvPr/>
        </p:nvSpPr>
        <p:spPr>
          <a:xfrm>
            <a:off x="12773891" y="7780713"/>
            <a:ext cx="1784465" cy="360218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35662" y="699849"/>
            <a:ext cx="5141119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Архитектура проекта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435662" y="1509832"/>
            <a:ext cx="9759077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Модульная структура с четким разделением ответственности компонентов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435662" y="1956554"/>
            <a:ext cx="9759077" cy="983575"/>
          </a:xfrm>
          <a:prstGeom prst="roundRect">
            <a:avLst>
              <a:gd name="adj" fmla="val 2500"/>
            </a:avLst>
          </a:prstGeom>
          <a:solidFill>
            <a:srgbClr val="112836"/>
          </a:solidFill>
          <a:ln w="22860">
            <a:solidFill>
              <a:srgbClr val="496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58522" y="1979414"/>
            <a:ext cx="655677" cy="937855"/>
          </a:xfrm>
          <a:prstGeom prst="rect">
            <a:avLst/>
          </a:prstGeom>
          <a:solidFill>
            <a:srgbClr val="304755"/>
          </a:solidFill>
          <a:ln/>
        </p:spPr>
      </p:sp>
      <p:sp>
        <p:nvSpPr>
          <p:cNvPr id="6" name="Text 4"/>
          <p:cNvSpPr/>
          <p:nvPr/>
        </p:nvSpPr>
        <p:spPr>
          <a:xfrm>
            <a:off x="2663428" y="2294692"/>
            <a:ext cx="245864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278029" y="2143244"/>
            <a:ext cx="192857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Components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78029" y="2482691"/>
            <a:ext cx="8730020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Переиспользуемые UI компоненты: Button, Input, Modal, Table, Layout элементы для построения интерфейса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435662" y="3103959"/>
            <a:ext cx="9759077" cy="983575"/>
          </a:xfrm>
          <a:prstGeom prst="roundRect">
            <a:avLst>
              <a:gd name="adj" fmla="val 2500"/>
            </a:avLst>
          </a:prstGeom>
          <a:solidFill>
            <a:srgbClr val="112836"/>
          </a:solidFill>
          <a:ln w="22860">
            <a:solidFill>
              <a:srgbClr val="4960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58522" y="3126819"/>
            <a:ext cx="655677" cy="937855"/>
          </a:xfrm>
          <a:prstGeom prst="rect">
            <a:avLst/>
          </a:prstGeom>
          <a:solidFill>
            <a:srgbClr val="304755"/>
          </a:solidFill>
          <a:ln/>
        </p:spPr>
      </p:sp>
      <p:sp>
        <p:nvSpPr>
          <p:cNvPr id="11" name="Text 9"/>
          <p:cNvSpPr/>
          <p:nvPr/>
        </p:nvSpPr>
        <p:spPr>
          <a:xfrm>
            <a:off x="2663428" y="3442097"/>
            <a:ext cx="245864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278029" y="3290649"/>
            <a:ext cx="192857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Pages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78029" y="3630097"/>
            <a:ext cx="8730020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Страницы приложения: HomePage, TicketsPage, AgentsPage, CustomersPage, AdminPage с логикой представления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435662" y="4251365"/>
            <a:ext cx="9759077" cy="983575"/>
          </a:xfrm>
          <a:prstGeom prst="roundRect">
            <a:avLst>
              <a:gd name="adj" fmla="val 2500"/>
            </a:avLst>
          </a:prstGeom>
          <a:solidFill>
            <a:srgbClr val="112836"/>
          </a:solidFill>
          <a:ln w="22860">
            <a:solidFill>
              <a:srgbClr val="4960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58522" y="4274225"/>
            <a:ext cx="655677" cy="937855"/>
          </a:xfrm>
          <a:prstGeom prst="rect">
            <a:avLst/>
          </a:prstGeom>
          <a:solidFill>
            <a:srgbClr val="304755"/>
          </a:solidFill>
          <a:ln/>
        </p:spPr>
      </p:sp>
      <p:sp>
        <p:nvSpPr>
          <p:cNvPr id="16" name="Text 14"/>
          <p:cNvSpPr/>
          <p:nvPr/>
        </p:nvSpPr>
        <p:spPr>
          <a:xfrm>
            <a:off x="2663428" y="4589502"/>
            <a:ext cx="245864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278029" y="4438055"/>
            <a:ext cx="192857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Store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78029" y="4777502"/>
            <a:ext cx="8730020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MobX хранилища: AuthStore, DataStore, NavigationStore, UIStore для управления состоянием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435662" y="5398770"/>
            <a:ext cx="9759077" cy="983575"/>
          </a:xfrm>
          <a:prstGeom prst="roundRect">
            <a:avLst>
              <a:gd name="adj" fmla="val 2500"/>
            </a:avLst>
          </a:prstGeom>
          <a:solidFill>
            <a:srgbClr val="112836"/>
          </a:solidFill>
          <a:ln w="22860">
            <a:solidFill>
              <a:srgbClr val="4960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58522" y="5421630"/>
            <a:ext cx="655677" cy="937855"/>
          </a:xfrm>
          <a:prstGeom prst="rect">
            <a:avLst/>
          </a:prstGeom>
          <a:solidFill>
            <a:srgbClr val="304755"/>
          </a:solidFill>
          <a:ln/>
        </p:spPr>
      </p:sp>
      <p:sp>
        <p:nvSpPr>
          <p:cNvPr id="21" name="Text 19"/>
          <p:cNvSpPr/>
          <p:nvPr/>
        </p:nvSpPr>
        <p:spPr>
          <a:xfrm>
            <a:off x="2663428" y="5736908"/>
            <a:ext cx="245864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3278029" y="5585460"/>
            <a:ext cx="192857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Types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78029" y="5924907"/>
            <a:ext cx="8730020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TypeScript интерфейсы и типы для всех сущностей системы: пользователи, тикеты, сообщения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435662" y="6546175"/>
            <a:ext cx="9759077" cy="983575"/>
          </a:xfrm>
          <a:prstGeom prst="roundRect">
            <a:avLst>
              <a:gd name="adj" fmla="val 2500"/>
            </a:avLst>
          </a:prstGeom>
          <a:solidFill>
            <a:srgbClr val="112836"/>
          </a:solidFill>
          <a:ln w="22860">
            <a:solidFill>
              <a:srgbClr val="4960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58522" y="6569035"/>
            <a:ext cx="655677" cy="937855"/>
          </a:xfrm>
          <a:prstGeom prst="rect">
            <a:avLst/>
          </a:prstGeom>
          <a:solidFill>
            <a:srgbClr val="304755"/>
          </a:solidFill>
          <a:ln/>
        </p:spPr>
      </p:sp>
      <p:sp>
        <p:nvSpPr>
          <p:cNvPr id="26" name="Text 24"/>
          <p:cNvSpPr/>
          <p:nvPr/>
        </p:nvSpPr>
        <p:spPr>
          <a:xfrm>
            <a:off x="2663428" y="6884313"/>
            <a:ext cx="245864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3278029" y="6732865"/>
            <a:ext cx="192857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Styles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278029" y="7072313"/>
            <a:ext cx="8730020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Глобальные стили, переменные, миксины и корпоративная сине-зелёная цветовая палитра</a:t>
            </a:r>
            <a:endParaRPr lang="en-US" sz="1250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D5D30CA8-D3C2-4CCF-9FD6-A7114CE8F491}"/>
              </a:ext>
            </a:extLst>
          </p:cNvPr>
          <p:cNvSpPr/>
          <p:nvPr/>
        </p:nvSpPr>
        <p:spPr>
          <a:xfrm>
            <a:off x="12773891" y="7780713"/>
            <a:ext cx="1784465" cy="360218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9061" y="640913"/>
            <a:ext cx="2303740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УПРАВЛЕНИЕ СОСТОЯНИЕМ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59061" y="1056918"/>
            <a:ext cx="12512278" cy="1236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MobX Stores: четыре ключевых хранилища</a:t>
            </a:r>
            <a:endParaRPr lang="en-US" sz="3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061" y="2608540"/>
            <a:ext cx="1050846" cy="12611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20052" y="2818686"/>
            <a:ext cx="2472690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AuthStore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2320052" y="3253859"/>
            <a:ext cx="11251287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Авторизация пользователей, управление ролями и правами доступа в системе</a:t>
            </a:r>
            <a:endParaRPr lang="en-US" sz="1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061" y="3869650"/>
            <a:ext cx="1050846" cy="12611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20052" y="4079796"/>
            <a:ext cx="2472690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DataStore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2320052" y="4514969"/>
            <a:ext cx="11251287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CRUD операции с данными, взаимодействие с Firebase Realtime Database</a:t>
            </a:r>
            <a:endParaRPr lang="en-US" sz="1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061" y="5130760"/>
            <a:ext cx="1050846" cy="126111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320052" y="5340906"/>
            <a:ext cx="2472690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NavigationStore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2320052" y="5776079"/>
            <a:ext cx="11251287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Управление навигацией между страницами без использования react-router</a:t>
            </a:r>
            <a:endParaRPr lang="en-US" sz="16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061" y="6391870"/>
            <a:ext cx="1050846" cy="126111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320052" y="6602016"/>
            <a:ext cx="2472690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UIStore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2320052" y="7037189"/>
            <a:ext cx="11251287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Состояние пользовательского интерфейса: модальные окна, уведомления</a:t>
            </a:r>
            <a:endParaRPr lang="en-US" sz="16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CAD2B1C-A721-40B8-90EE-C2D66C61ADC6}"/>
              </a:ext>
            </a:extLst>
          </p:cNvPr>
          <p:cNvSpPr/>
          <p:nvPr/>
        </p:nvSpPr>
        <p:spPr>
          <a:xfrm>
            <a:off x="12773891" y="7780713"/>
            <a:ext cx="1784465" cy="360218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6252" y="574000"/>
            <a:ext cx="7704296" cy="1209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Структура данных системы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206252" y="2323743"/>
            <a:ext cx="3601283" cy="2496622"/>
          </a:xfrm>
          <a:prstGeom prst="roundRect">
            <a:avLst>
              <a:gd name="adj" fmla="val 4395"/>
            </a:avLst>
          </a:prstGeom>
          <a:solidFill>
            <a:srgbClr val="112836"/>
          </a:solidFill>
          <a:ln w="22860">
            <a:solidFill>
              <a:srgbClr val="0A988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83392" y="2323743"/>
            <a:ext cx="91440" cy="2496622"/>
          </a:xfrm>
          <a:prstGeom prst="roundRect">
            <a:avLst>
              <a:gd name="adj" fmla="val 33739"/>
            </a:avLst>
          </a:prstGeom>
          <a:solidFill>
            <a:srgbClr val="0A988B"/>
          </a:solidFill>
          <a:ln/>
        </p:spPr>
      </p:sp>
      <p:sp>
        <p:nvSpPr>
          <p:cNvPr id="6" name="Text 3"/>
          <p:cNvSpPr/>
          <p:nvPr/>
        </p:nvSpPr>
        <p:spPr>
          <a:xfrm>
            <a:off x="6503313" y="2552224"/>
            <a:ext cx="241958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Ticket (Тикет)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03313" y="3060263"/>
            <a:ext cx="3075742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id, subject, description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503313" y="3461147"/>
            <a:ext cx="3075742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categoryId, customerId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03313" y="3862030"/>
            <a:ext cx="3075742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agentId, status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03313" y="4262914"/>
            <a:ext cx="3075742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priority, timestamps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06252" y="5025985"/>
            <a:ext cx="3601283" cy="2398157"/>
          </a:xfrm>
          <a:prstGeom prst="roundRect">
            <a:avLst>
              <a:gd name="adj" fmla="val 4576"/>
            </a:avLst>
          </a:prstGeom>
          <a:solidFill>
            <a:srgbClr val="112836"/>
          </a:solidFill>
          <a:ln w="22860">
            <a:solidFill>
              <a:srgbClr val="1C364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83392" y="5025985"/>
            <a:ext cx="91440" cy="2398157"/>
          </a:xfrm>
          <a:prstGeom prst="roundRect">
            <a:avLst>
              <a:gd name="adj" fmla="val 33739"/>
            </a:avLst>
          </a:prstGeom>
          <a:solidFill>
            <a:srgbClr val="1C3645"/>
          </a:solidFill>
          <a:ln/>
        </p:spPr>
      </p:sp>
      <p:sp>
        <p:nvSpPr>
          <p:cNvPr id="13" name="Text 10"/>
          <p:cNvSpPr/>
          <p:nvPr/>
        </p:nvSpPr>
        <p:spPr>
          <a:xfrm>
            <a:off x="6503313" y="5254466"/>
            <a:ext cx="307574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Message (Сообщение)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503313" y="6064925"/>
            <a:ext cx="3075742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id, ticketId, authorId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03313" y="6465808"/>
            <a:ext cx="3075742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content, isInternal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03313" y="6866692"/>
            <a:ext cx="3075742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createdAt, isActive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316885" y="2323743"/>
            <a:ext cx="3601283" cy="2095738"/>
          </a:xfrm>
          <a:prstGeom prst="roundRect">
            <a:avLst>
              <a:gd name="adj" fmla="val 5236"/>
            </a:avLst>
          </a:prstGeom>
          <a:solidFill>
            <a:srgbClr val="112836"/>
          </a:solidFill>
          <a:ln w="22860">
            <a:solidFill>
              <a:srgbClr val="0A988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294025" y="2323743"/>
            <a:ext cx="91440" cy="2095738"/>
          </a:xfrm>
          <a:prstGeom prst="roundRect">
            <a:avLst>
              <a:gd name="adj" fmla="val 33739"/>
            </a:avLst>
          </a:prstGeom>
          <a:solidFill>
            <a:srgbClr val="0A988B"/>
          </a:solidFill>
          <a:ln/>
        </p:spPr>
      </p:sp>
      <p:sp>
        <p:nvSpPr>
          <p:cNvPr id="19" name="Text 16"/>
          <p:cNvSpPr/>
          <p:nvPr/>
        </p:nvSpPr>
        <p:spPr>
          <a:xfrm>
            <a:off x="10613946" y="2552224"/>
            <a:ext cx="241958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Agent (Агент)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10613946" y="3060263"/>
            <a:ext cx="3075742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id, name, email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613946" y="3461147"/>
            <a:ext cx="3075742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department, status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613946" y="3862030"/>
            <a:ext cx="3075742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ticketsCount, isActive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0316885" y="4625102"/>
            <a:ext cx="3601283" cy="1997273"/>
          </a:xfrm>
          <a:prstGeom prst="roundRect">
            <a:avLst>
              <a:gd name="adj" fmla="val 5494"/>
            </a:avLst>
          </a:prstGeom>
          <a:solidFill>
            <a:srgbClr val="112836"/>
          </a:solidFill>
          <a:ln w="22860">
            <a:solidFill>
              <a:srgbClr val="1C364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294025" y="4625102"/>
            <a:ext cx="91440" cy="1997273"/>
          </a:xfrm>
          <a:prstGeom prst="roundRect">
            <a:avLst>
              <a:gd name="adj" fmla="val 33739"/>
            </a:avLst>
          </a:prstGeom>
          <a:solidFill>
            <a:srgbClr val="1C3645"/>
          </a:solidFill>
          <a:ln/>
        </p:spPr>
      </p:sp>
      <p:sp>
        <p:nvSpPr>
          <p:cNvPr id="25" name="Text 22"/>
          <p:cNvSpPr/>
          <p:nvPr/>
        </p:nvSpPr>
        <p:spPr>
          <a:xfrm>
            <a:off x="10613946" y="4853583"/>
            <a:ext cx="307574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Category (Категория)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10613946" y="5664041"/>
            <a:ext cx="3075742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id, name, description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0613946" y="6064925"/>
            <a:ext cx="3075742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slaHours, isActive</a:t>
            </a:r>
            <a:endParaRPr lang="en-US" sz="1600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79152BC3-5057-440D-962C-C0C934CD15D0}"/>
              </a:ext>
            </a:extLst>
          </p:cNvPr>
          <p:cNvSpPr/>
          <p:nvPr/>
        </p:nvSpPr>
        <p:spPr>
          <a:xfrm>
            <a:off x="12773891" y="7780713"/>
            <a:ext cx="1784465" cy="360218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973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68385" y="3047167"/>
            <a:ext cx="1733312" cy="375404"/>
          </a:xfrm>
          <a:prstGeom prst="roundRect">
            <a:avLst>
              <a:gd name="adj" fmla="val 6386"/>
            </a:avLst>
          </a:prstGeom>
          <a:solidFill>
            <a:srgbClr val="054842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8162" y="3154918"/>
            <a:ext cx="159782" cy="1597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27835" y="3107055"/>
            <a:ext cx="1254085" cy="255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БЕЗОПАСНОСТЬ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1368385" y="3502462"/>
            <a:ext cx="9051488" cy="587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Система ролей и прав доступа</a:t>
            </a:r>
            <a:endParaRPr lang="en-US" sz="3700" dirty="0"/>
          </a:p>
        </p:txBody>
      </p:sp>
      <p:sp>
        <p:nvSpPr>
          <p:cNvPr id="7" name="Shape 3"/>
          <p:cNvSpPr/>
          <p:nvPr/>
        </p:nvSpPr>
        <p:spPr>
          <a:xfrm>
            <a:off x="1668066" y="5188863"/>
            <a:ext cx="3531513" cy="199787"/>
          </a:xfrm>
          <a:prstGeom prst="roundRect">
            <a:avLst>
              <a:gd name="adj" fmla="val 15000"/>
            </a:avLst>
          </a:prstGeom>
          <a:solidFill>
            <a:srgbClr val="304755"/>
          </a:solidFill>
          <a:ln/>
        </p:spPr>
      </p:sp>
      <p:sp>
        <p:nvSpPr>
          <p:cNvPr id="8" name="Shape 4"/>
          <p:cNvSpPr/>
          <p:nvPr/>
        </p:nvSpPr>
        <p:spPr>
          <a:xfrm>
            <a:off x="1368385" y="4989076"/>
            <a:ext cx="599361" cy="599361"/>
          </a:xfrm>
          <a:prstGeom prst="roundRect">
            <a:avLst>
              <a:gd name="adj" fmla="val 76281"/>
            </a:avLst>
          </a:prstGeom>
          <a:solidFill>
            <a:srgbClr val="304755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8166" y="5138857"/>
            <a:ext cx="299680" cy="2996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68172" y="5788223"/>
            <a:ext cx="2675692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Customer (Клиент)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568172" y="6201728"/>
            <a:ext cx="3431738" cy="1278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AD6DE"/>
                </a:solidFill>
                <a:highlight>
                  <a:srgbClr val="0A988B"/>
                </a:highlight>
                <a:latin typeface="Cabin" pitchFamily="34" charset="0"/>
                <a:ea typeface="Cabin" pitchFamily="34" charset="-122"/>
                <a:cs typeface="Cabin" pitchFamily="34" charset="-120"/>
              </a:rPr>
              <a:t>Роль по умолчанию</a:t>
            </a: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создание тикетов, просмотр своих обращений, добавление сообщений</a:t>
            </a:r>
            <a:endParaRPr lang="en-US" sz="1550" dirty="0"/>
          </a:p>
        </p:txBody>
      </p:sp>
      <p:sp>
        <p:nvSpPr>
          <p:cNvPr id="12" name="Shape 7"/>
          <p:cNvSpPr/>
          <p:nvPr/>
        </p:nvSpPr>
        <p:spPr>
          <a:xfrm>
            <a:off x="5699165" y="4889182"/>
            <a:ext cx="3531513" cy="199787"/>
          </a:xfrm>
          <a:prstGeom prst="roundRect">
            <a:avLst>
              <a:gd name="adj" fmla="val 15000"/>
            </a:avLst>
          </a:prstGeom>
          <a:solidFill>
            <a:srgbClr val="304755"/>
          </a:solidFill>
          <a:ln/>
        </p:spPr>
      </p:sp>
      <p:sp>
        <p:nvSpPr>
          <p:cNvPr id="13" name="Shape 8"/>
          <p:cNvSpPr/>
          <p:nvPr/>
        </p:nvSpPr>
        <p:spPr>
          <a:xfrm>
            <a:off x="5399484" y="4689396"/>
            <a:ext cx="599361" cy="599361"/>
          </a:xfrm>
          <a:prstGeom prst="roundRect">
            <a:avLst>
              <a:gd name="adj" fmla="val 76281"/>
            </a:avLst>
          </a:prstGeom>
          <a:solidFill>
            <a:srgbClr val="304755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9265" y="4839176"/>
            <a:ext cx="299680" cy="2996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599271" y="5488543"/>
            <a:ext cx="235041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Agent (Агент)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5599271" y="5902047"/>
            <a:ext cx="3431738" cy="1278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AD6DE"/>
                </a:solidFill>
                <a:highlight>
                  <a:srgbClr val="1C3645"/>
                </a:highlight>
                <a:latin typeface="Cabin" pitchFamily="34" charset="0"/>
                <a:ea typeface="Cabin" pitchFamily="34" charset="-122"/>
                <a:cs typeface="Cabin" pitchFamily="34" charset="-120"/>
              </a:rPr>
              <a:t>Требует авторизацию</a:t>
            </a: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все права клиента + обработка тикетов, изменение статусов, ответы клиентам</a:t>
            </a:r>
            <a:endParaRPr lang="en-US" sz="1550" dirty="0"/>
          </a:p>
        </p:txBody>
      </p:sp>
      <p:sp>
        <p:nvSpPr>
          <p:cNvPr id="17" name="Shape 11"/>
          <p:cNvSpPr/>
          <p:nvPr/>
        </p:nvSpPr>
        <p:spPr>
          <a:xfrm>
            <a:off x="9730264" y="4589502"/>
            <a:ext cx="3531513" cy="199787"/>
          </a:xfrm>
          <a:prstGeom prst="roundRect">
            <a:avLst>
              <a:gd name="adj" fmla="val 15000"/>
            </a:avLst>
          </a:prstGeom>
          <a:solidFill>
            <a:srgbClr val="304755"/>
          </a:solidFill>
          <a:ln/>
        </p:spPr>
      </p:sp>
      <p:sp>
        <p:nvSpPr>
          <p:cNvPr id="18" name="Shape 12"/>
          <p:cNvSpPr/>
          <p:nvPr/>
        </p:nvSpPr>
        <p:spPr>
          <a:xfrm>
            <a:off x="9430583" y="4389715"/>
            <a:ext cx="599361" cy="599361"/>
          </a:xfrm>
          <a:prstGeom prst="roundRect">
            <a:avLst>
              <a:gd name="adj" fmla="val 76281"/>
            </a:avLst>
          </a:prstGeom>
          <a:solidFill>
            <a:srgbClr val="304755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80364" y="4539496"/>
            <a:ext cx="299680" cy="2996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630370" y="5188863"/>
            <a:ext cx="3431738" cy="58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Admin (Администратор)</a:t>
            </a:r>
            <a:endParaRPr lang="en-US" sz="1850" dirty="0"/>
          </a:p>
        </p:txBody>
      </p:sp>
      <p:sp>
        <p:nvSpPr>
          <p:cNvPr id="21" name="Text 14"/>
          <p:cNvSpPr/>
          <p:nvPr/>
        </p:nvSpPr>
        <p:spPr>
          <a:xfrm>
            <a:off x="9630370" y="5896094"/>
            <a:ext cx="3431738" cy="1278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AD6DE"/>
                </a:solidFill>
                <a:highlight>
                  <a:srgbClr val="061722"/>
                </a:highlight>
                <a:latin typeface="Cabin" pitchFamily="34" charset="0"/>
                <a:ea typeface="Cabin" pitchFamily="34" charset="-122"/>
                <a:cs typeface="Cabin" pitchFamily="34" charset="-120"/>
              </a:rPr>
              <a:t>Полный доступ</a:t>
            </a: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все права агента + управление агентами, категориями, полный контроль данных</a:t>
            </a:r>
            <a:endParaRPr lang="en-US" sz="15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6CC200D-66A7-448E-AB20-41B99C120546}"/>
              </a:ext>
            </a:extLst>
          </p:cNvPr>
          <p:cNvSpPr/>
          <p:nvPr/>
        </p:nvSpPr>
        <p:spPr>
          <a:xfrm>
            <a:off x="12773891" y="7780713"/>
            <a:ext cx="1784465" cy="360218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1147" y="863679"/>
            <a:ext cx="7941707" cy="101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Ключевые преимущества решения</a:t>
            </a:r>
            <a:endParaRPr lang="en-US" sz="3150" dirty="0"/>
          </a:p>
        </p:txBody>
      </p:sp>
      <p:sp>
        <p:nvSpPr>
          <p:cNvPr id="4" name="Shape 1"/>
          <p:cNvSpPr/>
          <p:nvPr/>
        </p:nvSpPr>
        <p:spPr>
          <a:xfrm>
            <a:off x="601147" y="2131695"/>
            <a:ext cx="7941707" cy="1248489"/>
          </a:xfrm>
          <a:prstGeom prst="roundRect">
            <a:avLst>
              <a:gd name="adj" fmla="val 2064"/>
            </a:avLst>
          </a:prstGeom>
          <a:solidFill>
            <a:srgbClr val="0A988B"/>
          </a:solidFill>
          <a:ln/>
        </p:spPr>
      </p:sp>
      <p:sp>
        <p:nvSpPr>
          <p:cNvPr id="5" name="Text 2"/>
          <p:cNvSpPr/>
          <p:nvPr/>
        </p:nvSpPr>
        <p:spPr>
          <a:xfrm>
            <a:off x="772835" y="2303383"/>
            <a:ext cx="2545913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Масштабируемость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72835" y="2658904"/>
            <a:ext cx="7598331" cy="54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Модульная архитектура позволяет легко расширять функциональность и добавлять новые возможности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01147" y="3551872"/>
            <a:ext cx="7941707" cy="1248489"/>
          </a:xfrm>
          <a:prstGeom prst="roundRect">
            <a:avLst>
              <a:gd name="adj" fmla="val 2064"/>
            </a:avLst>
          </a:prstGeom>
          <a:solidFill>
            <a:srgbClr val="1C3645"/>
          </a:solidFill>
          <a:ln/>
        </p:spPr>
      </p:sp>
      <p:sp>
        <p:nvSpPr>
          <p:cNvPr id="8" name="Text 5"/>
          <p:cNvSpPr/>
          <p:nvPr/>
        </p:nvSpPr>
        <p:spPr>
          <a:xfrm>
            <a:off x="772835" y="3723561"/>
            <a:ext cx="2671524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Производительность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72835" y="4079081"/>
            <a:ext cx="7598331" cy="54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Vite и React обеспечивают быструю загрузку и отзывчивый интерфейс даже при большом объеме данных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01147" y="4972050"/>
            <a:ext cx="7941707" cy="1248489"/>
          </a:xfrm>
          <a:prstGeom prst="roundRect">
            <a:avLst>
              <a:gd name="adj" fmla="val 2064"/>
            </a:avLst>
          </a:prstGeom>
          <a:solidFill>
            <a:srgbClr val="0A988B"/>
          </a:solidFill>
          <a:ln/>
        </p:spPr>
      </p:sp>
      <p:sp>
        <p:nvSpPr>
          <p:cNvPr id="11" name="Text 8"/>
          <p:cNvSpPr/>
          <p:nvPr/>
        </p:nvSpPr>
        <p:spPr>
          <a:xfrm>
            <a:off x="772835" y="5143738"/>
            <a:ext cx="2346246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Типобезопасность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72835" y="5499259"/>
            <a:ext cx="7598331" cy="54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TypeScript исключает множество ошибок на этапе разработки и улучшает поддерживаемость кода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01147" y="6392228"/>
            <a:ext cx="7941707" cy="973693"/>
          </a:xfrm>
          <a:prstGeom prst="roundRect">
            <a:avLst>
              <a:gd name="adj" fmla="val 2646"/>
            </a:avLst>
          </a:prstGeom>
          <a:solidFill>
            <a:srgbClr val="1C3645"/>
          </a:solidFill>
          <a:ln/>
        </p:spPr>
      </p:sp>
      <p:sp>
        <p:nvSpPr>
          <p:cNvPr id="14" name="Text 11"/>
          <p:cNvSpPr/>
          <p:nvPr/>
        </p:nvSpPr>
        <p:spPr>
          <a:xfrm>
            <a:off x="772835" y="6563916"/>
            <a:ext cx="2624257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Realtime обновления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772835" y="6919436"/>
            <a:ext cx="7598331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Firebase синхронизирует данные в реальном времени между всеми клиентами системы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982" y="632460"/>
            <a:ext cx="6500693" cy="676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Итоги и результаты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804982" y="1860828"/>
            <a:ext cx="7587853" cy="1104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 err="1">
                <a:solidFill>
                  <a:srgbClr val="CAD6DE"/>
                </a:solidFill>
                <a:latin typeface="Cabin" pitchFamily="34" charset="0"/>
              </a:rPr>
              <a:t>Разработанная</a:t>
            </a: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система представляет собой </a:t>
            </a:r>
            <a:r>
              <a:rPr lang="en-US" sz="18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полнофункциональное решение</a:t>
            </a: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для автоматизации технической поддержки с современным стеком технологий.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04982" y="3223617"/>
            <a:ext cx="517446" cy="517446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" name="Text 3"/>
          <p:cNvSpPr/>
          <p:nvPr/>
        </p:nvSpPr>
        <p:spPr>
          <a:xfrm>
            <a:off x="1552337" y="3302675"/>
            <a:ext cx="2902863" cy="676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Реализована ролевая модель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552337" y="4209098"/>
            <a:ext cx="2902863" cy="736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с разграничением прав доступа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42617" y="3223617"/>
            <a:ext cx="517446" cy="517446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" name="Text 6"/>
          <p:cNvSpPr/>
          <p:nvPr/>
        </p:nvSpPr>
        <p:spPr>
          <a:xfrm>
            <a:off x="5489972" y="3302675"/>
            <a:ext cx="2902863" cy="101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Создана модульная архитектура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489972" y="4547354"/>
            <a:ext cx="2902863" cy="736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с четким разделением ответственности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4982" y="5743337"/>
            <a:ext cx="517446" cy="517446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1" name="Text 9"/>
          <p:cNvSpPr/>
          <p:nvPr/>
        </p:nvSpPr>
        <p:spPr>
          <a:xfrm>
            <a:off x="1552337" y="5822394"/>
            <a:ext cx="6297573" cy="338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Применены современные технологии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552337" y="6390561"/>
            <a:ext cx="6840498" cy="368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для высокой производительности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04982" y="7017306"/>
            <a:ext cx="7587853" cy="375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Запуск проекта:</a:t>
            </a: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18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→ </a:t>
            </a:r>
            <a:r>
              <a:rPr lang="en-US" sz="18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8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477" y="1912620"/>
            <a:ext cx="4871561" cy="4871561"/>
          </a:xfrm>
          <a:prstGeom prst="rect">
            <a:avLst/>
          </a:prstGeom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820CE7E-5221-4B53-A092-6638598887D8}"/>
              </a:ext>
            </a:extLst>
          </p:cNvPr>
          <p:cNvSpPr/>
          <p:nvPr/>
        </p:nvSpPr>
        <p:spPr>
          <a:xfrm>
            <a:off x="12773891" y="7780713"/>
            <a:ext cx="1784465" cy="360218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547</Words>
  <Application>Microsoft Office PowerPoint</Application>
  <PresentationFormat>Произвольный</PresentationFormat>
  <Paragraphs>127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Cabin</vt:lpstr>
      <vt:lpstr>Consolas</vt:lpstr>
      <vt:lpstr>Calibri</vt:lpstr>
      <vt:lpstr>Unbounded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Никита Смирнов</cp:lastModifiedBy>
  <cp:revision>4</cp:revision>
  <dcterms:created xsi:type="dcterms:W3CDTF">2026-01-06T21:58:05Z</dcterms:created>
  <dcterms:modified xsi:type="dcterms:W3CDTF">2026-01-06T22:02:33Z</dcterms:modified>
</cp:coreProperties>
</file>